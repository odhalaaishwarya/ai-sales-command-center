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75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hero-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stops, one story.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2037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1488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08760" y="25328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sales teams lose deals — and what's really going on underneath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1560" y="2715768"/>
            <a:ext cx="0" cy="27432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044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2990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508760" y="33741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evidence, the root cause, and the decision it led to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51560" y="3557016"/>
            <a:ext cx="0" cy="27432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08760" y="3831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508760" y="421538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was scoped, guarded, and chosen on purpose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51560" y="4398264"/>
            <a:ext cx="0" cy="27432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727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08760" y="46725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508760" y="50566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cost, real metrics, and where this approach hits its limits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51560" y="5239512"/>
            <a:ext cx="0" cy="27432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" y="5568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508760" y="55138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508760" y="5897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tour — then the live demo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31520" y="1600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WORTH SITTING WITH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Sales Teams</a:t>
            </a:r>
            <a:endParaRPr lang="en-US" sz="4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Deals?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280160" y="393192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most people, and you'll get the wrong answer.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EFFORT. IT'S FRAGMENTATION.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a Deal Lives</a:t>
            </a:r>
            <a:endParaRPr lang="en-US" sz="3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Three Different Places.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569568" y="3063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3063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38448" y="3063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861408" y="3063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B1730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61408" y="3063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30288" y="3063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153248" y="3063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B1730"/>
          </a:solidFill>
          <a:ln w="12700">
            <a:solidFill>
              <a:srgbClr val="60A5F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53248" y="3063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443484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talk to each other. So the CRM goes stale while the deal keeps moving.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BEGINS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Looking for Where the Story Breaks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emails. Real meeting notes. Nothing invented.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468880"/>
            <a:ext cx="10543032" cy="1965960"/>
          </a:xfrm>
          <a:prstGeom prst="roundRect">
            <a:avLst>
              <a:gd name="adj" fmla="val 4651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724912"/>
            <a:ext cx="1454810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720340"/>
            <a:ext cx="145481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BHAVIN · 30 MARCH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097280" y="312724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three documents attached… let me know if compliance needs anything else."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972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professional reply — the kind that should close a deal.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4892040"/>
            <a:ext cx="9811512" cy="0"/>
          </a:xfrm>
          <a:prstGeom prst="line">
            <a:avLst/>
          </a:prstGeom>
          <a:noFill/>
          <a:ln w="19050">
            <a:solidFill>
              <a:srgbClr val="2E2A45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1133856" y="483717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001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5239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431536" y="4837176"/>
            <a:ext cx="109728" cy="1097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5001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3440" y="5239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clears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client ready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10277856" y="4837176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Text 18"/>
          <p:cNvSpPr/>
          <p:nvPr/>
        </p:nvSpPr>
        <p:spPr>
          <a:xfrm>
            <a:off x="9784080" y="5001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509760" y="5239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reply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REALLY GOING WRONG?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Whys, One Honest Answer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965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go cold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2585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423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don't fire on time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2715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3444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CRM doesn't reflect reality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31729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34440" y="3337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time to transcribe every call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3630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794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founder-led — CRM upkeep is sacrificed first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223760" y="2651760"/>
            <a:ext cx="4507992" cy="2606040"/>
          </a:xfrm>
          <a:prstGeom prst="roundRect">
            <a:avLst>
              <a:gd name="adj" fmla="val 3509"/>
            </a:avLst>
          </a:prstGeom>
          <a:solidFill>
            <a:srgbClr val="1B1730"/>
          </a:solidFill>
          <a:ln w="19050">
            <a:solidFill>
              <a:srgbClr val="4ADE8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0" y="2926080"/>
            <a:ext cx="923544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2921508"/>
            <a:ext cx="923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7498080" y="336499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CRM only captures what a busy deal owner remembers to type in.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98080" y="43434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leaks from a lack of memory — not a lack of leads.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RESEARCH INTO PRODUCT DECISIONS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Tool Would Actually Help?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161022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77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TOOL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Auto-updates the CRM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Auto-sends follow-ups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Black-box confidence scores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52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Acts the moment it's “sure”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5166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build. Impossible to trust.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214884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1B1730"/>
          </a:solidFill>
          <a:ln w="19050">
            <a:solidFill>
              <a:srgbClr val="4ADE8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2377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INSTEAD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3796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Read-only — never writes to the CRM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37960" y="3474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Drafts only — a human sends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537960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claim cites a real quote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3796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Suggests. Never decides.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537960" y="5166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build. Something a founder can actually rely 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AI EXPERIENCE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Ships With Its Guardrail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checklist bolted on after — designed in from the start.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5349240" cy="749808"/>
          </a:xfrm>
          <a:prstGeom prst="roundRect">
            <a:avLst>
              <a:gd name="adj" fmla="val 12195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42316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facts from raw email &amp; note 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70448" y="24231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2423160"/>
            <a:ext cx="5330952" cy="749808"/>
          </a:xfrm>
          <a:prstGeom prst="roundRect">
            <a:avLst>
              <a:gd name="adj" fmla="val 12195"/>
            </a:avLst>
          </a:prstGeom>
          <a:solidFill>
            <a:srgbClr val="161022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242316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Attribution — must cite a verbatim quote, or it's dropped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319272"/>
            <a:ext cx="5349240" cy="749808"/>
          </a:xfrm>
          <a:prstGeom prst="roundRect">
            <a:avLst>
              <a:gd name="adj" fmla="val 12195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331927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follow-up email, evidence-grounded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70448" y="331927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0" y="3319272"/>
            <a:ext cx="5330952" cy="749808"/>
          </a:xfrm>
          <a:prstGeom prst="roundRect">
            <a:avLst>
              <a:gd name="adj" fmla="val 12195"/>
            </a:avLst>
          </a:prstGeom>
          <a:solidFill>
            <a:srgbClr val="161022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29400" y="331927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— nothing sends without a click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4215384"/>
            <a:ext cx="5349240" cy="749808"/>
          </a:xfrm>
          <a:prstGeom prst="roundRect">
            <a:avLst>
              <a:gd name="adj" fmla="val 12195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" y="42153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whole pipeline in seconds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70448" y="421538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0" y="4215384"/>
            <a:ext cx="5330952" cy="749808"/>
          </a:xfrm>
          <a:prstGeom prst="roundRect">
            <a:avLst>
              <a:gd name="adj" fmla="val 12195"/>
            </a:avLst>
          </a:prstGeom>
          <a:solidFill>
            <a:srgbClr val="161022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42153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every summary traces back to source docs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5111496"/>
            <a:ext cx="5349240" cy="749808"/>
          </a:xfrm>
          <a:prstGeom prst="roundRect">
            <a:avLst>
              <a:gd name="adj" fmla="val 12195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" y="511149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urgency &amp; flags duplicates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70448" y="511149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0800" y="5111496"/>
            <a:ext cx="5330952" cy="749808"/>
          </a:xfrm>
          <a:prstGeom prst="roundRect">
            <a:avLst>
              <a:gd name="adj" fmla="val 12195"/>
            </a:avLst>
          </a:prstGeom>
          <a:solidFill>
            <a:srgbClr val="161022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29400" y="511149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Privacy — business signals only, never personal data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Path That Still Holds Up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options. One made sense at this scale.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022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" y="2569464"/>
            <a:ext cx="923544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8B86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2564892"/>
            <a:ext cx="923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694944" y="30175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" y="393192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data yet to do it responsibly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4325112" y="2331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022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62856" y="2569464"/>
            <a:ext cx="923544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8B86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62856" y="2564892"/>
            <a:ext cx="923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4562856" y="30175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Embeddings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62856" y="393192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lead's documents are small enough to pass in full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8193024" y="2331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B1730"/>
          </a:solidFill>
          <a:ln w="22225">
            <a:solidFill>
              <a:srgbClr val="4ADE8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0768" y="2569464"/>
            <a:ext cx="619963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0768" y="2564892"/>
            <a:ext cx="6199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430768" y="30175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Structured Output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Sonnet 5)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30768" y="393192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grounding &amp; schema-constrained output — nothing more was needed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 · LOOKING AHEAD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This Stop Being Enough?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specific triggers — not a guess.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4944" y="25511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4944" y="283464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lead outgrows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window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4944" y="3703320"/>
            <a:ext cx="3136392" cy="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381304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→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944" y="4087368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retrieval (RAG) — but only for that lead's documents, not a portfolio-wide rebuild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25112" y="233172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B1730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62856" y="25511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62856" y="283464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becomes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cross-lead, not per-lead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4562856" y="3703320"/>
            <a:ext cx="3136392" cy="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62856" y="381304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62856" y="4087368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mentioned a competitor this quarter?” needs search across leads — a dedicated insights layer, not a one-off prompt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93024" y="233172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B1730"/>
          </a:solidFill>
          <a:ln w="12700">
            <a:solidFill>
              <a:srgbClr val="FBBF2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430768" y="255117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430768" y="283464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real usage data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8430768" y="3703320"/>
            <a:ext cx="3136392" cy="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381304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→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30768" y="4087368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fine-tuning — once human-agreement data exists to train on responsibly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54406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hypothetical — every trigger here is already staged in the PRD's own roadmap.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ACTUALLY WORK IN PRODUCTION?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Case, in Real Numbers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projection — this is measured, from actual billing.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B1730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AI cost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26280" y="233172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B1730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66344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0" y="233172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B1730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159.8x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36676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every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spent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161022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$4.85/month to run this for AtliQ's full pipeline vs. ~$779/month in founder &amp; rep time doing it by hand.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097280" y="49834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catching a stalled deal is smaller than the cost of one missed reply.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Know It Worked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470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question we opened with — one number, held up by three others.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9943" y="2233422"/>
            <a:ext cx="11274552" cy="960120"/>
          </a:xfrm>
          <a:prstGeom prst="roundRect">
            <a:avLst>
              <a:gd name="adj" fmla="val 7692"/>
            </a:avLst>
          </a:prstGeom>
          <a:solidFill>
            <a:srgbClr val="1B1730"/>
          </a:solidFill>
          <a:ln w="19050">
            <a:solidFill>
              <a:srgbClr val="4ADE8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6280" y="244830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" y="27569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leads (&gt;$50k), 30+ days silent despite real engagement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778240" y="2286000"/>
            <a:ext cx="0" cy="822960"/>
          </a:xfrm>
          <a:prstGeom prst="line">
            <a:avLst/>
          </a:prstGeom>
          <a:noFill/>
          <a:ln w="12700">
            <a:solidFill>
              <a:srgbClr val="2E2A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→ 0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3584448" cy="2514600"/>
          </a:xfrm>
          <a:prstGeom prst="roundRect">
            <a:avLst>
              <a:gd name="adj" fmla="val 3636"/>
            </a:avLst>
          </a:prstGeom>
          <a:solidFill>
            <a:srgbClr val="161022"/>
          </a:solidFill>
          <a:ln w="12700">
            <a:solidFill>
              <a:srgbClr val="60A5F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4944" y="3785616"/>
            <a:ext cx="1378915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3781044"/>
            <a:ext cx="137891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SHALLOW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694944" y="422452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surfaced per run; suggested actions generated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94944" y="5623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only — tracked, not targeted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297680" y="3566160"/>
            <a:ext cx="3584448" cy="2514600"/>
          </a:xfrm>
          <a:prstGeom prst="roundRect">
            <a:avLst>
              <a:gd name="adj" fmla="val 3636"/>
            </a:avLst>
          </a:prstGeom>
          <a:solidFill>
            <a:srgbClr val="161022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35424" y="3785616"/>
            <a:ext cx="1075334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35424" y="3781044"/>
            <a:ext cx="10753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4535424" y="422452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agreement with flagged findings; actions used as-is vs. edited vs. discarded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35424" y="5623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agreement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8138160" y="3566160"/>
            <a:ext cx="3584448" cy="2514600"/>
          </a:xfrm>
          <a:prstGeom prst="roundRect">
            <a:avLst>
              <a:gd name="adj" fmla="val 3636"/>
            </a:avLst>
          </a:prstGeom>
          <a:solidFill>
            <a:srgbClr val="161022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375904" y="3785616"/>
            <a:ext cx="1378915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75904" y="3781044"/>
            <a:ext cx="137891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8375904" y="422452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findings dropped by the grounding check; automated CRM writes or sent emails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375904" y="5623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Writes/sends must stay at 0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002975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SOLUTION TO LIFE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Eleven Ways It Shows Up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487168"/>
            <a:ext cx="73152" cy="73152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Attention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852928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urgent lead, ranked and explained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288536" y="22860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B1730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2487168"/>
            <a:ext cx="73152" cy="73152"/>
          </a:xfrm>
          <a:prstGeom prst="roundRect">
            <a:avLst/>
          </a:prstGeom>
          <a:solidFill>
            <a:srgbClr val="EC4899"/>
          </a:solidFill>
          <a:ln/>
        </p:spPr>
      </p:sp>
      <p:sp>
        <p:nvSpPr>
          <p:cNvPr id="13" name="Text 10"/>
          <p:cNvSpPr/>
          <p:nvPr/>
        </p:nvSpPr>
        <p:spPr>
          <a:xfrm>
            <a:off x="4654296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Trail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89704" y="2852928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 — every score, explained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119872" y="22860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B1730"/>
          </a:solidFill>
          <a:ln w="12700">
            <a:solidFill>
              <a:srgbClr val="60A5F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2487168"/>
            <a:ext cx="73152" cy="73152"/>
          </a:xfrm>
          <a:prstGeom prst="roundRect">
            <a:avLst/>
          </a:prstGeom>
          <a:solidFill>
            <a:srgbClr val="60A5FA"/>
          </a:solidFill>
          <a:ln/>
        </p:spPr>
      </p:sp>
      <p:sp>
        <p:nvSpPr>
          <p:cNvPr id="17" name="Text 14"/>
          <p:cNvSpPr/>
          <p:nvPr/>
        </p:nvSpPr>
        <p:spPr>
          <a:xfrm>
            <a:off x="8485632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Follow-Ups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21040" y="2852928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Nothing sends itself.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57200" y="3904488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B1730"/>
          </a:solidFill>
          <a:ln w="12700">
            <a:solidFill>
              <a:srgbClr val="4ADE8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4105656"/>
            <a:ext cx="73152" cy="73152"/>
          </a:xfrm>
          <a:prstGeom prst="roundRect">
            <a:avLst/>
          </a:prstGeom>
          <a:solidFill>
            <a:srgbClr val="4ADE80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0416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vs. Payoff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" y="4471416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calls — pure CRM math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4288536" y="3904488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B1730"/>
          </a:solidFill>
          <a:ln w="12700">
            <a:solidFill>
              <a:srgbClr val="FBBF2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89704" y="4105656"/>
            <a:ext cx="73152" cy="73152"/>
          </a:xfrm>
          <a:prstGeom prst="roundRect">
            <a:avLst/>
          </a:prstGeom>
          <a:solidFill>
            <a:srgbClr val="FBBF24"/>
          </a:solidFill>
          <a:ln/>
        </p:spPr>
      </p:sp>
      <p:sp>
        <p:nvSpPr>
          <p:cNvPr id="25" name="Text 22"/>
          <p:cNvSpPr/>
          <p:nvPr/>
        </p:nvSpPr>
        <p:spPr>
          <a:xfrm>
            <a:off x="4654296" y="40416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Lead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489704" y="4471416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story, chronologically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8119872" y="3904488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321040" y="4105656"/>
            <a:ext cx="73152" cy="73152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9" name="Text 26"/>
          <p:cNvSpPr/>
          <p:nvPr/>
        </p:nvSpPr>
        <p:spPr>
          <a:xfrm>
            <a:off x="8485632" y="40416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321040" y="4471416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pipeline's health, in one paragraph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more inside the live product — categories, hidden opportunities, linked evidence, memory trail, and the floating assistant.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68" y="11430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260604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Live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780587" y="3703320"/>
            <a:ext cx="847649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80587" y="3698748"/>
            <a:ext cx="84764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4792828" y="3703320"/>
            <a:ext cx="1454810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92828" y="3698748"/>
            <a:ext cx="145481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412230" y="3703320"/>
            <a:ext cx="1834286" cy="274320"/>
          </a:xfrm>
          <a:prstGeom prst="roundRect">
            <a:avLst>
              <a:gd name="adj" fmla="val 50000"/>
            </a:avLst>
          </a:prstGeom>
          <a:solidFill>
            <a:srgbClr val="1B173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2230" y="3698748"/>
            <a:ext cx="1834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kern="0" spc="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HUMAN-APPROVED, ALWAYS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3078328" y="434340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1B1730"/>
          </a:solidFill>
          <a:ln w="12700">
            <a:solidFill>
              <a:srgbClr val="2E2A4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78328" y="4343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ai-sales-command-center-5srun5kqnywjo2wb4dfy3u.streamlit.app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Aishwarya Odhala · Business Analyst, AI Product Builder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Widescreen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Odhala Aishwarya</cp:lastModifiedBy>
  <cp:revision>2</cp:revision>
  <dcterms:created xsi:type="dcterms:W3CDTF">2026-08-01T07:56:01Z</dcterms:created>
  <dcterms:modified xsi:type="dcterms:W3CDTF">2026-08-01T08:02:46Z</dcterms:modified>
</cp:coreProperties>
</file>